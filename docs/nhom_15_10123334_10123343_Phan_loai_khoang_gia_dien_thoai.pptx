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92608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BÁO CÁO HỌC THUẬT &amp; 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PHÂN LOẠI PHÂN KHÚC GIÁ ĐIỆN THOẠI THÔNG MINH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</a:defRPr>
            </a:pPr>
            <a:r>
              <a:t>Mobile Price Classification — Microservices Architecture &amp; Docker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B365D"/>
                </a:solidFill>
              </a:rPr>
              <a:t>Tên Nhóm: </a:t>
            </a:r>
            <a:r>
              <a:rPr sz="1300">
                <a:solidFill>
                  <a:srgbClr val="1E293B"/>
                </a:solidFill>
              </a:rPr>
              <a:t>Nhóm 15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B365D"/>
                </a:solidFill>
              </a:rPr>
              <a:t>Thành Viên: </a:t>
            </a:r>
            <a:r>
              <a:rPr sz="1300">
                <a:solidFill>
                  <a:srgbClr val="1E293B"/>
                </a:solidFill>
              </a:rPr>
              <a:t>SV1: 10123334 (EDA, Pipeline, Models)  |  SV2: 10123343 (FastAPI, Docker, UI, Tests)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B365D"/>
                </a:solidFill>
              </a:rPr>
              <a:t>Mô Hình Sản Xuất: </a:t>
            </a:r>
            <a:r>
              <a:rPr sz="1300" b="1">
                <a:solidFill>
                  <a:srgbClr val="10B981"/>
                </a:solidFill>
              </a:rPr>
              <a:t>Logistic Regression Pipeline (Test Accuracy: 97.50%, Macro F1: 97.50%)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B365D"/>
                </a:solidFill>
              </a:rPr>
              <a:t>Kiến Trúc &amp; Đóng Gói: </a:t>
            </a:r>
            <a:r>
              <a:rPr sz="1300">
                <a:solidFill>
                  <a:srgbClr val="1E293B"/>
                </a:solidFill>
              </a:rPr>
              <a:t>Microservices 4 Container (Frontend Nginx, Backend FastAPI, AI Service, MongoDB)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1. Giới Thiệu Bài Toán &amp; Bộ Dữ Liệu (Kaggle Benchmark)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TỔNG QUAN BÀI TOÁN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B547E"/>
                </a:solidFill>
              </a:rPr>
              <a:t>Loại bài toán: </a:t>
            </a:r>
            <a:r>
              <a:rPr sz="1100">
                <a:solidFill>
                  <a:srgbClr val="1E293B"/>
                </a:solidFill>
              </a:rPr>
              <a:t>Phân loại đa lớp có giám sát (Multiclass Classification).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B547E"/>
                </a:solidFill>
              </a:rPr>
              <a:t>Nguồn dữ liệu: </a:t>
            </a:r>
            <a:r>
              <a:rPr sz="1100">
                <a:solidFill>
                  <a:srgbClr val="1E293B"/>
                </a:solidFill>
              </a:rPr>
              <a:t>Kaggle Benchmark (Tác giả Abhishek Sharma, giấy phép ODbL/CC0 public domain).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B547E"/>
                </a:solidFill>
              </a:rPr>
              <a:t>Quy mô tập dữ liệu: </a:t>
            </a:r>
            <a:r>
              <a:rPr sz="1100">
                <a:solidFill>
                  <a:srgbClr val="1E293B"/>
                </a:solidFill>
              </a:rPr>
              <a:t>2,000 mẫu huấn luyện (`train.csv`) và 1,000 mẫu kiểm thử (`test.csv`). Sạch 100% (0 missing values).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B547E"/>
                </a:solidFill>
              </a:rPr>
              <a:t>Biến mục tiêu `price_range`: </a:t>
            </a:r>
            <a:r>
              <a:rPr sz="1100">
                <a:solidFill>
                  <a:srgbClr val="1E293B"/>
                </a:solidFill>
              </a:rPr>
              <a:t>Gồm 4 phân khúc khoảng giá cân bằng hoàn hảo (500 mẫu/lớp = 25.0%):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B547E"/>
                </a:solidFill>
              </a:rPr>
              <a:t>  • Lớp 0 (Low Cost): </a:t>
            </a:r>
            <a:r>
              <a:rPr sz="1100">
                <a:solidFill>
                  <a:srgbClr val="1E293B"/>
                </a:solidFill>
              </a:rPr>
              <a:t>Phổ thông giá rẻ (&lt; 3 triệu VNĐ).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B547E"/>
                </a:solidFill>
              </a:rPr>
              <a:t>  • Lớp 1 (Medium Cost): </a:t>
            </a:r>
            <a:r>
              <a:rPr sz="1100">
                <a:solidFill>
                  <a:srgbClr val="1E293B"/>
                </a:solidFill>
              </a:rPr>
              <a:t>Tầm trung (3 - 7 triệu VNĐ).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B547E"/>
                </a:solidFill>
              </a:rPr>
              <a:t>  • Lớp 2 (High Cost): </a:t>
            </a:r>
            <a:r>
              <a:rPr sz="1100">
                <a:solidFill>
                  <a:srgbClr val="1E293B"/>
                </a:solidFill>
              </a:rPr>
              <a:t>Cận cao cấp (7 - 12 triệu VNĐ).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B547E"/>
                </a:solidFill>
              </a:rPr>
              <a:t>  • Lớp 3 (Very High Cost): </a:t>
            </a:r>
            <a:r>
              <a:rPr sz="1100">
                <a:solidFill>
                  <a:srgbClr val="1E293B"/>
                </a:solidFill>
              </a:rPr>
              <a:t>Flagship / Cao cấp (&gt; 12 triệu VNĐ).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DANH MỤC 20 ĐẶC TRƯNG ĐẦU VÀO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07AFF"/>
                </a:solidFill>
              </a:rPr>
              <a:t>1. Hiệu Năng &amp; Bộ Nhớ
</a:t>
            </a:r>
            <a:r>
              <a:rPr sz="1100">
                <a:solidFill>
                  <a:srgbClr val="1E293B"/>
                </a:solidFill>
              </a:rPr>
              <a:t>ram (256-3998 MB), int_memory (2-64 GB), n_cores (1-8), clock_speed (0.5-3.0 GHz).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07AFF"/>
                </a:solidFill>
              </a:rPr>
              <a:t>2. Pin &amp; Nguồn Năng Lượng
</a:t>
            </a:r>
            <a:r>
              <a:rPr sz="1100">
                <a:solidFill>
                  <a:srgbClr val="1E293B"/>
                </a:solidFill>
              </a:rPr>
              <a:t>battery_power (501-1998 mAh), talk_time (2-20 giờ đàm thoại).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07AFF"/>
                </a:solidFill>
              </a:rPr>
              <a:t>3. Màn Hình &amp; Kích Thước
</a:t>
            </a:r>
            <a:r>
              <a:rPr sz="1100">
                <a:solidFill>
                  <a:srgbClr val="1E293B"/>
                </a:solidFill>
              </a:rPr>
              <a:t>px_height (0-1960 px), px_width (500-1998 px), sc_h/sc_w (cm), m_dep (cm), mobile_wt (80-200g), touch_screen (0/1).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07AFF"/>
                </a:solidFill>
              </a:rPr>
              <a:t>4. Camera &amp; Kết Nối Mạng
</a:t>
            </a:r>
            <a:r>
              <a:rPr sz="1100">
                <a:solidFill>
                  <a:srgbClr val="1E293B"/>
                </a:solidFill>
              </a:rPr>
              <a:t>pc (0-20 MP), fc (0-19 MP), blue (0/1), dual_sim (0/1), three_g (0/1), four_g (0/1), wifi (0/1).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2. Phân Tích Khám Phá Dữ Liệu EDA (Phân Phối Lớp &amp; 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3200400" cy="2000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Hình 1: Biến Mục Tiêu</a:t>
            </a:r>
          </a:p>
          <a:p>
            <a:pPr>
              <a:defRPr sz="1000"/>
            </a:pPr>
            <a:r>
              <a:t>• 500 mẫu/lớp (25.0% đều).</a:t>
            </a:r>
            <a:br/>
            <a:r>
              <a:t>• Baseline ngẫu nhiên: 25.0%.</a:t>
            </a:r>
            <a:br/>
            <a:r>
              <a:t>• Không cần xử lý SMOTE/Oversampling. Áp dụng Stratified Split.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54480"/>
            <a:ext cx="32004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Hình 2: Ma Trận Tương Quan</a:t>
            </a:r>
          </a:p>
          <a:p>
            <a:pPr>
              <a:defRPr sz="1000"/>
            </a:pPr>
            <a:r>
              <a:t>• RAM tương quan mạnh nhất (r = 0.917).</a:t>
            </a:r>
            <a:br/>
            <a:r>
              <a:t>• Battery &amp; Pixel tương quan vừa (r ~ 0.15 - 0.20).</a:t>
            </a:r>
            <a:br/>
            <a:r>
              <a:t>• Đa cộng tuyến an toàn (max r = 0.64 giữa pc &amp; fc).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3_ram_vs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54480"/>
            <a:ext cx="32004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Hình 3: RAM vs Price Range</a:t>
            </a:r>
          </a:p>
          <a:p>
            <a:pPr>
              <a:defRPr sz="1000"/>
            </a:pPr>
            <a:r>
              <a:t>• Các hộp IQR tách biệt rõ nét theo bậc thang.</a:t>
            </a:r>
            <a:br/>
            <a:r>
              <a:t>• Tạo ranh giới siêu phẳng tuyến tính tuyệt vời.</a:t>
            </a:r>
            <a:br/>
            <a:r>
              <a:t>• Không xuất hiện điểm dị biệt ngoại lai.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2. Phân Tích Khám Phá Dữ Liệu EDA (Pin, Màn Hình &amp; Trọng Số)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_battery_and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320040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Hình 4: Pin &amp; Độ Phân Giải</a:t>
            </a:r>
          </a:p>
          <a:p>
            <a:pPr>
              <a:defRPr sz="1000"/>
            </a:pPr>
            <a:r>
              <a:t>• Máy cao cấp (Lớp 2 &amp; 3) tập trung ở góc pin &gt; 1200 mAh &amp; màn hình &gt; 1.5M px.</a:t>
            </a:r>
            <a:br/>
            <a:r>
              <a:t>• Yếu tố phần cứng quan trọng thứ nhì sau 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_connectiv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54480"/>
            <a:ext cx="3200400" cy="17456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Hình 5: Chuẩn Kết Nối</a:t>
            </a:r>
          </a:p>
          <a:p>
            <a:pPr>
              <a:defRPr sz="1000"/>
            </a:pPr>
            <a:r>
              <a:t>• 3G phổ cập &gt; 75% ở mọi phân khúc.</a:t>
            </a:r>
            <a:br/>
            <a:r>
              <a:t>• 4G, Wifi, Bluetooth, 2 SIM xuất hiện đồng đều 50-55%.</a:t>
            </a:r>
            <a:br/>
            <a:r>
              <a:t>• Thiết kế toggle switch trên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8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54480"/>
            <a:ext cx="3200400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Hình 8: Trọng Số Đặc Trưng</a:t>
            </a:r>
          </a:p>
          <a:p>
            <a:pPr>
              <a:defRPr sz="1000"/>
            </a:pPr>
            <a:r>
              <a:t>• RAM chiếm &gt; 45% trọng số phân loại.</a:t>
            </a:r>
            <a:br/>
            <a:r>
              <a:t>• Battery &amp; Độ phân giải màn hình chiếm ~25%.</a:t>
            </a:r>
            <a:br/>
            <a:r>
              <a:t>• Ưu tiên nhóm Hiệu năng &amp; Nguồn trên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3. Quy Trình Tiền Xử Lý Dữ Liệu &amp; Chống Rò Rỉ (No Data Leakage)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Bước 1: Phân Chia Stratified Split 80/20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Phân chia 1,600 mẫu Train (80%) và 400 mẫu Test (20%) với `random_state=42`.</a:t>
            </a:r>
            <a:br/>
            <a:r>
              <a:t>Áp dụng `stratify=y` bảo toàn chính xác tỷ lệ 25.0% đồng đều của 4 phân khúc giá trên cả 2 tập.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Bước 2: StandardScaler (Chống Data Leakage)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Tính toán trung bình ($\mu$) và độ lệch chuẩn ($\sigma$) DUY NHẤT trên tập Train (`scaler.fit(X_train)`).</a:t>
            </a:r>
            <a:br/>
            <a:r>
              <a:t>Sau đó mới biến đổi `transform` sang tập Test. Tuyệt đối không fit trên tập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Bước 3: Đóng Gói Scikit-Learn Pipeline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Tích hợp Preprocessor (`StandardScaler`) và Classifier vào trong 1 `Pipeline` duy nhất.</a:t>
            </a:r>
            <a:br/>
            <a:r>
              <a:t>Dữ liệu mới khi predict sẽ tự động được chuẩn hóa thang đo chuẩn từ tập Train.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Bước 4: Định Nghĩa Schema Ràng Buộc (`schema.json`)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Định nghĩa chuẩn tên 20 đặc trưng, kiểu dữ liệu, khoảng giá trị hợp lệ [min, max] và nhãn tiếng Việt.</a:t>
            </a:r>
            <a:br/>
            <a:r>
              <a:t>Dùng chung kiểm thực ở Backend FastAPI và dựng form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4. Thử Nghiệm &amp; Siêu Tham Số Các Mô Hình Học Máy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FF"/>
                </a:solidFill>
              </a:defRPr>
            </a:pPr>
            <a:r>
              <a:t>🏆 1. Logistic Regression (Multinomial)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Nguyên lý: Hàm Softmax ước lượng xác suất 4 lớp $P(y=k|X) = \frac{e^{w_k^T X + b_k}}{\sum e^{w_j^T X + b_j}}$.</a:t>
            </a:r>
            <a:br/>
            <a:r>
              <a:t>• Siêu tham số thử nghiệm: $C \in [0.01, 0.1, 1.0, 10.0, 100.0]$, solver='lbfgs', max_iter=1000.</a:t>
            </a:r>
            <a:br/>
            <a:r>
              <a:t>• Kết quả tinh chỉnh: $C = 10.0$ cho hiệu năng tối ưu nhất (5-Fold CV Score = 96.31%).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🥈 2. Support Vector Machine (SVC)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Nguyên lý: Tìm kiếm siêu phẳng tối ưu (Optimal Hyperplane) tối đa hóa khoảng cách biên (Margin).</a:t>
            </a:r>
            <a:br/>
            <a:r>
              <a:t>• Siêu tham số thử nghiệm: $C \in [0.1, 1.0, 5.0, 10.0]$, kernel='linear' &amp; 'rbf'.</a:t>
            </a:r>
            <a:br/>
            <a:r>
              <a:t>• Kết quả tinh chỉnh: Linear Kernel với $C = 5.0$ cho hiệu năng rất tốt (5-Fold CV Score = 95.81%).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🥉 3. Naive Bayes (Gaussian NB)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Nguyên lý: Giả định các đặc trưng độc lập khi biết lớp. Làm baseline đánh giá xác suất.</a:t>
            </a:r>
            <a:br/>
            <a:r>
              <a:t>• Siêu tham số thử nghiệm: `var_smoothing` từ $1e-9$ đến $1e-5$.</a:t>
            </a:r>
            <a:br/>
            <a:r>
              <a:t>• Kết quả tinh chỉnh: `var_smoothing = 1e-9` (5-Fold CV Score = 80.37%).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4. K-Nearest Neighbors (KNN)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Nguyên lý: Phân loại dựa trên phiếu bầu lân cận khoảng cách Euclidean.</a:t>
            </a:r>
            <a:br/>
            <a:r>
              <a:t>• Siêu tham số thử nghiệm: Số lân cận $k \in [3, 5, 7, 9, 11, 15]$, weights=('uniform', 'distance').</a:t>
            </a:r>
            <a:br/>
            <a:r>
              <a:t>• Kết quả tinh chỉnh: $k = 11$, `weights='distance'` (5-Fold CV Score = 56.06%).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5. Đánh Giá Hiệu Năng &amp; Lựa Chọn Mô Hình Sản Xuất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BẢNG SO SÁNH CHỈ SỐ METRIC 4 MÔ HÌNH HỌC MÁY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6492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5-Fold CV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Train Acc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Đánh Giá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07AFF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7AFF"/>
                          </a:solidFill>
                        </a:defRPr>
                      </a:pPr>
                      <a:r>
                        <a:t>96.31%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7AFF"/>
                          </a:solidFill>
                        </a:defRPr>
                      </a:pPr>
                      <a:r>
                        <a:t>98.25%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7AFF"/>
                          </a:solidFill>
                        </a:defRPr>
                      </a:pPr>
                      <a:r>
                        <a:t>97.50%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7AFF"/>
                          </a:solidFill>
                        </a:defRPr>
                      </a:pPr>
                      <a:r>
                        <a:t>97.50%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7AFF"/>
                          </a:solidFill>
                        </a:defRPr>
                      </a:pPr>
                      <a:r>
                        <a:t>🏆 Chọn sản xuất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t>SVM (Linear SVC)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95.81%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98.19%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Hiệu năng tốt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89.50%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92.00%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91.98%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Overfitting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87.44%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88.94%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Overfitting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t>Naive Bayes (Gaussian)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80.37%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81.87%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81.00%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81.05%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Trung bình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t>KNN (k=11)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56.06%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57.50%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57.76%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Hiệu năng kém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480"/>
            <a:ext cx="3474720" cy="30403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466344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rPr dirty="0"/>
              <a:t>LÝ DO CHỌN LOGISTIC REGRESSION</a:t>
            </a:r>
          </a:p>
          <a:p>
            <a:pPr>
              <a:defRPr sz="1000"/>
            </a:pPr>
            <a:r>
              <a:rPr dirty="0"/>
              <a:t>1.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(97.50%).</a:t>
            </a:r>
            <a:br>
              <a:rPr dirty="0"/>
            </a:br>
            <a:r>
              <a:rPr dirty="0"/>
              <a:t>2.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khớp</a:t>
            </a:r>
            <a:r>
              <a:rPr dirty="0"/>
              <a:t> (</a:t>
            </a: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Train - Test </a:t>
            </a:r>
            <a:r>
              <a:rPr dirty="0" err="1"/>
              <a:t>chỉ</a:t>
            </a:r>
            <a:r>
              <a:rPr dirty="0"/>
              <a:t> 0.75%).</a:t>
            </a:r>
            <a:br>
              <a:rPr dirty="0"/>
            </a:br>
            <a:r>
              <a:rPr dirty="0"/>
              <a:t>3. File </a:t>
            </a:r>
            <a:r>
              <a:rPr dirty="0" err="1"/>
              <a:t>siêu</a:t>
            </a:r>
            <a:r>
              <a:rPr dirty="0"/>
              <a:t> </a:t>
            </a:r>
            <a:r>
              <a:rPr dirty="0" err="1"/>
              <a:t>nhẹ</a:t>
            </a:r>
            <a:r>
              <a:rPr dirty="0"/>
              <a:t> (2.1 KB), latency &lt; 5ms.</a:t>
            </a:r>
            <a:br>
              <a:rPr dirty="0"/>
            </a:br>
            <a:r>
              <a:rPr dirty="0"/>
              <a:t>4. Ma </a:t>
            </a:r>
            <a:r>
              <a:rPr dirty="0" err="1"/>
              <a:t>trận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</a:t>
            </a:r>
            <a:r>
              <a:rPr dirty="0" err="1"/>
              <a:t>lẫn</a:t>
            </a:r>
            <a:r>
              <a:rPr dirty="0"/>
              <a:t>: 100% </a:t>
            </a:r>
            <a:r>
              <a:rPr dirty="0" err="1"/>
              <a:t>nhầm</a:t>
            </a:r>
            <a:r>
              <a:rPr dirty="0"/>
              <a:t> ở </a:t>
            </a:r>
            <a:r>
              <a:rPr dirty="0" err="1"/>
              <a:t>ranh</a:t>
            </a:r>
            <a:r>
              <a:rPr dirty="0"/>
              <a:t>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liền</a:t>
            </a:r>
            <a:r>
              <a:rPr dirty="0"/>
              <a:t> </a:t>
            </a:r>
            <a:r>
              <a:rPr dirty="0" err="1"/>
              <a:t>kề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nhảy</a:t>
            </a:r>
            <a:r>
              <a:rPr dirty="0"/>
              <a:t> </a:t>
            </a:r>
            <a:r>
              <a:rPr dirty="0" err="1"/>
              <a:t>cóc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6. Đóng Gói Mô Hình &amp; Quy Trình Export Model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1. Tệp Model Pipeline (`model.joblib`)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Vị trí: `ai-models/models/model.joblib`</a:t>
            </a:r>
            <a:br/>
            <a:r>
              <a:t>Dung lượng: 2.1 KB (Nén `compress=3`).</a:t>
            </a:r>
            <a:br/>
            <a:r>
              <a:t>Chứa trọn gói: Bộ chuẩn hóa `StandardScaler` và mô hình `LogisticRegression` đã huấn luyện.</a:t>
            </a:r>
            <a:br/>
            <a:r>
              <a:t>Nạp 1 lần duy nhất khi AI Service container khởi động (Lifespan handler).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64592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2. Tệp Cấu Hình Schema (`schema.json`)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Vị trí: `ai-models/models/schema.json`</a:t>
            </a:r>
            <a:br/>
            <a:r>
              <a:t>Dung lượng: ~1.5 KB.</a:t>
            </a:r>
            <a:br/>
            <a:r>
              <a:t>Quy định: Ràng buộc tên 20 đặc trưng, kiểu dữ liệu, miền giá trị [min, max] và nhãn tiếng Việt.</a:t>
            </a:r>
            <a:br/>
            <a:r>
              <a:t>Dùng chung cho cả Backend (Validate dữ liệu) và Frontend (Dựng form).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64592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3. Tệp Metadata Trích Xuất (`metadata.json`)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Vị trí: `ai-models/models/metadata.json`</a:t>
            </a:r>
            <a:br/>
            <a:r>
              <a:t>Dung lượng: ~2.8 KB.</a:t>
            </a:r>
            <a:br/>
            <a:r>
              <a:t>Lưu vết: Phiên bản model `1.0.0`, thời gian train, bảng so sánh metric các mô hình thử nghiệm và phiên bản môi trường (`scikit-learn 1.9.1`, `python 3.14`).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LỆNH EXPORT VÀ TỰ ĐỘNG HÓA HUẤN LUYỆN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Cách 1 (Python Script): python ai-models/src/train.py   ==&gt; Tự động train, đánh giá &amp; xuất 3 file model artifacts.</a:t>
            </a:r>
            <a:br/>
            <a:r>
              <a:t>• Cách 2 (Colab Notebook): Thực thi 01_eda.ipynb -&gt; 02_preprocess.ipynb -&gt; 03_train.ipynb -&gt; 04_evaluate.ipynb.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7. Thiết Kế Kiến Trúc Hệ Thống Microservices &amp;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SƠ ĐỒ KIẾN TRÚC LUỒNG DỮ LIỆU MICROSERVICES</a:t>
            </a:r>
          </a:p>
          <a:p>
            <a:pPr>
              <a:spcBef>
                <a:spcPts val="800"/>
              </a:spcBef>
              <a:defRPr sz="1100" b="1">
                <a:solidFill>
                  <a:srgbClr val="007AFF"/>
                </a:solidFill>
              </a:defRPr>
            </a:pPr>
            <a:r>
              <a:t>[ Người Dùng ] ──► [ Frontend Nginx (Port 3000) ] ──► [ Backend FastAPI (Port 8000) ] ──► [ AI Service (Port 8001) ] (Nạp model.joblib)</a:t>
            </a:r>
            <a:br/>
            <a:r>
              <a:t>                                                                     │</a:t>
            </a:r>
            <a:br/>
            <a:r>
              <a:t>                                                                     ▼</a:t>
            </a:r>
            <a:br/>
            <a:r>
              <a:t>                                                           [ MongoDB (Port 27017) ] (Lưu vết Lịch sử dự đoán)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1. Frontend Service (Port 3000)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Nginx Web Server (HTML5, Vanilla CSS, JS). Hỗ trợ Dark/Light mode, điều khiển thanh trượt 20 đặc trưng, presets mẫu &amp; biểu đồ phân phối xác suất 4 lớp.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374903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2. Backend API Gateway (Port 8000)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FastAPI Gateway tiếp nhận request, validate theo `schema.json`, chuyển tiếp AI Service qua Docker network (`http://ai-service:8001`), lưu vết MongoDB.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03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3. AI Service (Port 8001)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FastAPI Microservice chuyên trách suy luận ML. Nạp `model.joblib` ngay khi container khởi động (Lifespan handler) cho tốc độ phản hồi &lt; 5ms.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2120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5303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4. MongoDB Service (Port 27017)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Cơ sở dữ liệu NoSQL lưu trữ lịch sử dự đoán, thông số kỹ thuật đầu vào, thời gian, độ trễ latency và mã truy vết `request_id`.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7 &amp; 8. Hợp Đồng API Contract &amp; Triển Khai Public (.env)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HỢP ĐỒNG API CONTRACT (`POST /api/predict`)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// Request Body (JSON 20 đặc trưng)</a:t>
            </a:r>
            <a:br/>
            <a:r>
              <a:t>{</a:t>
            </a:r>
            <a:br/>
            <a:r>
              <a:t>  "features": {</a:t>
            </a:r>
            <a:br/>
            <a:r>
              <a:t>    "battery_power": 1850, "blue": 1, "ram": 3850, "touch_screen": 1, ...</a:t>
            </a:r>
            <a:br/>
            <a:r>
              <a:t>  }</a:t>
            </a:r>
            <a:br/>
            <a:r>
              <a:t>}</a:t>
            </a:r>
            <a:br/>
            <a:br/>
            <a:r>
              <a:t>// Response 200 OK (Kèm mã X-Request-ID)</a:t>
            </a:r>
            <a:br/>
            <a:r>
              <a:t>{</a:t>
            </a:r>
            <a:br/>
            <a:r>
              <a:t>  "prediction": "Giá rất cao (Very High Cost)",</a:t>
            </a:r>
            <a:br/>
            <a:r>
              <a:t>  "label_index": 3, "probability": 0.98,</a:t>
            </a:r>
            <a:br/>
            <a:r>
              <a:t>  "probabilities": {</a:t>
            </a:r>
            <a:br/>
            <a:r>
              <a:t>    "0": {"label": "Giá thấp", "percentage": "0.0%"},</a:t>
            </a:r>
            <a:br/>
            <a:r>
              <a:t>    "3": {"label": "Giá rất cao", "percentage": "98.0%"}</a:t>
            </a:r>
            <a:br/>
            <a:r>
              <a:t>  },</a:t>
            </a:r>
            <a:br/>
            <a:r>
              <a:t>  "model_version": "1.0.0", "latency_ms": 3.8, "request_id": "req-7f3a9b"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63040"/>
            <a:ext cx="4480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645920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TRIỂN KHAI PUBLIC &amp; CẤU HÌNH .ENV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AFF"/>
                </a:solidFill>
              </a:rPr>
              <a:t>Giao diện Frontend Public:
</a:t>
            </a:r>
            <a:r>
              <a:rPr sz="1050">
                <a:solidFill>
                  <a:srgbClr val="1E293B"/>
                </a:solidFill>
              </a:rPr>
              <a:t>https://mobile-price-ai.ngrok-free.app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AFF"/>
                </a:solidFill>
              </a:rPr>
              <a:t>API Backend Swagger UI:
</a:t>
            </a:r>
            <a:r>
              <a:rPr sz="1050">
                <a:solidFill>
                  <a:srgbClr val="1E293B"/>
                </a:solidFill>
              </a:rPr>
              <a:t>https://mobile-price-api.ngrok-free.app/docs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AFF"/>
                </a:solidFill>
              </a:rPr>
              <a:t>Giải pháp Tunneling:
</a:t>
            </a:r>
            <a:r>
              <a:rPr sz="1050">
                <a:solidFill>
                  <a:srgbClr val="1E293B"/>
                </a:solidFill>
              </a:rPr>
              <a:t>Ngrok HTTP Tunnel public cổng local 3000 &amp; 8000.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7AFF"/>
                </a:solidFill>
              </a:rPr>
              <a:t>Cấu hình `.env` an toàn:
</a:t>
            </a:r>
            <a:r>
              <a:rPr sz="1050">
                <a:solidFill>
                  <a:srgbClr val="1E293B"/>
                </a:solidFill>
              </a:rPr>
              <a:t>`AI_SERVICE_URL=http://ai-service:8001`
`MONGODB_URI=mongodb://mongo:27017/mobile_db`
`APP_PORT=8000`, `AI_SERVICE_PORT=8001`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9. Kiểm Thử Phần Mềm Pytest &amp; Đánh Giá Hiệu Năng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BỘ KIỂM THỬ TỰ ĐỘNG PYTEST (12/12 CASE PASSED)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</a:rPr>
              <a:t>1. Validation Logic (`test_validation.py`):
</a:t>
            </a:r>
            <a:r>
              <a:rPr sz="1000">
                <a:solidFill>
                  <a:srgbClr val="1E293B"/>
                </a:solidFill>
              </a:rPr>
              <a:t>✅ `test_validation_success`: Dữ liệu hợp lệ vượt qua.
✅ `test_validation_missing_field`: Bắt lỗi 400 khi thiếu trường.
✅ `test_validation_out_of_range_ram`: Chặn RAM ngoài [256, 3998].
✅ `test_validation_out_of_range_negative_battery`: Chặn pin âm.
✅ `test_validation_invalid_binary_flag`: Chặn cờ nhị phân khác 0/1.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0B981"/>
                </a:solidFill>
              </a:rPr>
              <a:t>2. API &amp; Model (`test_api.py` &amp; `test_model.py`):
</a:t>
            </a:r>
            <a:r>
              <a:rPr sz="1000">
                <a:solidFill>
                  <a:srgbClr val="1E293B"/>
                </a:solidFill>
              </a:rPr>
              <a:t>✅ `test_health_endpoint`: Kiểm tra trạng thái &amp; X-Request-ID.
✅ `test_model_file_exists`: Đảm bảo model.joblib &lt; 50MB.
✅ `test_model_loading_and_prediction`: Tổng xác suất = 1.0.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63040"/>
            <a:ext cx="4480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645920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ĐÁNH GIÁ HIỆU NĂNG TẢI &amp; GIAO DIỆN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AFF"/>
                </a:solidFill>
              </a:rPr>
              <a:t>Tải hệ thống (Load Testing):
</a:t>
            </a:r>
            <a:r>
              <a:rPr sz="1050">
                <a:solidFill>
                  <a:srgbClr val="1E293B"/>
                </a:solidFill>
              </a:rPr>
              <a:t>• Đáp ứng mượt mà throughput 50 req/s.
• AI Service p95 latency &lt; 15ms.
• Độ trễ end-to-end (Backend + DB + AI Service) &lt; 40ms.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AFF"/>
                </a:solidFill>
              </a:rPr>
              <a:t>Lighthouse UI Audit:
</a:t>
            </a:r>
            <a:r>
              <a:rPr sz="1050">
                <a:solidFill>
                  <a:srgbClr val="1E293B"/>
                </a:solidFill>
              </a:rPr>
              <a:t>• Performance: 98/100.
• Accessibility: 100/100.
• Best Practices &amp; SEO: 100/100.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AFF"/>
                </a:solidFill>
              </a:rPr>
              <a:t>Khả năng quan sát (Logging):
</a:t>
            </a:r>
            <a:r>
              <a:rPr sz="1050">
                <a:solidFill>
                  <a:srgbClr val="1E293B"/>
                </a:solidFill>
              </a:rPr>
              <a:t>• Ghi log có cấu trúc chuẩn.
• Mã `X-Request-ID` xuyên suốt cả 3 service giúp dễ dàng trace lỗi.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10. Kết Luận, Hạn Chế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1. KẾT LUẬN THÀNH QUẢ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Hoàn thành 100% mục tiêu đề ra.</a:t>
            </a:r>
            <a:br/>
            <a:r>
              <a:t>• Mô hình Logistic Regression Pipeline đạt độ chính xác 97.50% vượt trội.</a:t>
            </a:r>
            <a:br/>
            <a:r>
              <a:t>• Đóng gói trọn gói kiến trúc Microservices 4 Container với Docker Compose.</a:t>
            </a:r>
            <a:br/>
            <a:r>
              <a:t>• Khởi động 1 lệnh duy nhất (`docker compose up --build`).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2. HẠN CHẾ TỒN TẠI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Bộ dữ liệu Kaggle 2,000 mẫu còn hạn chế so với thị trường smartphone 2026.</a:t>
            </a:r>
            <a:br/>
            <a:r>
              <a:t>• Thiếu các thông số công nghệ hiện đại như tần số quét màn hình (Hz), công suất sạc nhanh (W), chip AI NPU.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3. HƯỚNG PHÁT TRIỂN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Crawl dữ liệu smartphone thực tế năm 2025-2026 từ các siêu thị điện máy.</a:t>
            </a:r>
            <a:br/>
            <a:r>
              <a:t>• Tích hợp MLOps (MLflow quản lý model, Evidently AI theo dõi Data/Model Drift).</a:t>
            </a:r>
            <a:br/>
            <a:r>
              <a:t>• Phát triển mô hình gợi ý smartphone theo ngân sách tài chính.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11. Bảng Phân Công Công Việc Nhóm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CHI TIẾT PHÂN CÔNG NHIỆM VỤ THÀNH VIÊN TRONG NHÓM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9456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80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Thành Viên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Mã Sinh Viên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Nhiệm Vụ Phụ Trách Chi Tiết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Tỷ Lệ Hoàn Thành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Thành viên 1 (SV1)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10123334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• Thu thập dữ liệu &amp; phân tích EDA (8 hình trực quan)</a:t>
                      </a:r>
                      <a:br/>
                      <a:r>
                        <a:t>• Xây dựng Preprocessing Pipeline &amp; chống rò rỉ dữ liệu</a:t>
                      </a:r>
                      <a:br/>
                      <a:r>
                        <a:t>• Huấn luyện, tinh chỉnh 4 mô hình (Logistic Regression, SVM, NB, KNN)</a:t>
                      </a:r>
                      <a:br/>
                      <a:r>
                        <a:t>• Đánh giá chỉ số metric &amp; đóng gói model.joblib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Thành viên 2 (SV2)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10123343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• Phát triển AI Service &amp; Backend FastAPI API Gateway</a:t>
                      </a:r>
                      <a:br/>
                      <a:r>
                        <a:t>• Thiết kế giao diện Frontend Nginx (Dark/Light mode UI)</a:t>
                      </a:r>
                      <a:br/>
                      <a:r>
                        <a:t>• Tích hợp MongoDB &amp; đóng gói Docker Compose 4 container</a:t>
                      </a:r>
                      <a:br/>
                      <a:r>
                        <a:t>• Viết 12 Unit Tests Pytest, logging &amp; Triển khai Public Ngrok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FF"/>
                </a:solidFill>
              </a:defRPr>
            </a:pPr>
            <a:r>
              <a:t>BÀI TẬP LỚN MÔN HỌC MÁY CƠ BẢN - NHÓM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12. Tài Liệu Tham Khảo &amp; Hướng Dẫn Vận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TÀI LIỆU THAM KHẢO &amp; HƯỚNG DẪN CHẠY DỰ ÁN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AFF"/>
                </a:solidFill>
              </a:rPr>
              <a:t>Tài liệu tham khảo:
</a:t>
            </a:r>
            <a:r>
              <a:rPr sz="1050">
                <a:solidFill>
                  <a:srgbClr val="1E293B"/>
                </a:solidFill>
              </a:rPr>
              <a:t>[1] Abhishek Sharma, Mobile Price Classification Dataset, Kaggle 2018.
[2] Pedregosa et al., Scikit-learn: Machine Learning in Python, JMLR 2011.
[3] FastAPI Framework Documentation &amp; Docker Compose Specification 2024.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AFF"/>
                </a:solidFill>
              </a:rPr>
              <a:t>Hướng dẫn vận hành Docker 1 lệnh:
</a:t>
            </a:r>
            <a:r>
              <a:rPr sz="1050">
                <a:solidFill>
                  <a:srgbClr val="1E293B"/>
                </a:solidFill>
              </a:rPr>
              <a:t>1. Sao chép biến môi trường: `cp .env.example .env`
2. Khởi chạy 4 container: `docker compose up --build`
3. Truy cập Frontend `http://localhost:3000` | Backend Docs `http://localhost:8000/docs`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7AFF"/>
                </a:solidFill>
              </a:rPr>
              <a:t>Kiểm thử tự động Pytest:
</a:t>
            </a:r>
            <a:r>
              <a:rPr sz="1050">
                <a:solidFill>
                  <a:srgbClr val="1E293B"/>
                </a:solidFill>
              </a:rPr>
              <a:t>Chạy bộ 12 unit test cases: `pytest app/backend/tests -v`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1B365D"/>
                </a:solidFill>
              </a:defRPr>
            </a:pPr>
            <a:r>
              <a:t>XIN CHÂN THÀNH CẢM ƠN THẦY CÔ VÀ CÁC BẠN! —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3343</Words>
  <Application>Microsoft Office PowerPoint</Application>
  <PresentationFormat>Widescreen</PresentationFormat>
  <Paragraphs>177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2026-09-27T08:50:01Z</dcterms:modified>
  <cp:category/>
</cp:coreProperties>
</file>